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2154" y="13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5174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F835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MN-BO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M×N 双层贝叶数优化框架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3017520"/>
            <a:ext cx="2743200" cy="0"/>
          </a:xfrm>
          <a:prstGeom prst="line">
            <a:avLst/>
          </a:prstGeom>
          <a:noFill/>
          <a:ln w="38100">
            <a:solidFill>
              <a:srgbClr val="EF83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组会报告  |  2026.04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LZ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报告提纲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320040"/>
            <a:ext cx="54864" cy="640080"/>
          </a:xfrm>
          <a:prstGeom prst="rect">
            <a:avLst/>
          </a:prstGeom>
          <a:solidFill>
            <a:srgbClr val="EF8354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280160"/>
            <a:ext cx="502920" cy="411480"/>
          </a:xfrm>
          <a:prstGeom prst="rect">
            <a:avLst/>
          </a:prstGeom>
          <a:solidFill>
            <a:srgbClr val="EF8354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2801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45920" y="1280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研究背景与动机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1874520"/>
            <a:ext cx="502920" cy="411480"/>
          </a:xfrm>
          <a:prstGeom prst="rect">
            <a:avLst/>
          </a:prstGeom>
          <a:solidFill>
            <a:srgbClr val="EF8354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8745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45920" y="18745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方法框架：M×N 双层架构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2468880"/>
            <a:ext cx="502920" cy="411480"/>
          </a:xfrm>
          <a:prstGeom prst="rect">
            <a:avLst/>
          </a:prstGeom>
          <a:solidFill>
            <a:srgbClr val="EF8354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24688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45920" y="24688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变换算子与外层搜索空间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" y="3063240"/>
            <a:ext cx="502920" cy="411480"/>
          </a:xfrm>
          <a:prstGeom prst="rect">
            <a:avLst/>
          </a:prstGeom>
          <a:solidFill>
            <a:srgbClr val="EF8354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30632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45920" y="30632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基准测试函数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14400" y="3657600"/>
            <a:ext cx="502920" cy="411480"/>
          </a:xfrm>
          <a:prstGeom prst="rect">
            <a:avLst/>
          </a:prstGeom>
          <a:solidFill>
            <a:srgbClr val="EF8354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36576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45920" y="36576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实验设计与评估指标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14400" y="4251960"/>
            <a:ext cx="502920" cy="411480"/>
          </a:xfrm>
          <a:prstGeom prst="rect">
            <a:avLst/>
          </a:prstGeom>
          <a:solidFill>
            <a:srgbClr val="EF8354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4400" y="42519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45920" y="42519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当前进展与下一步计划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研究背景与动机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320040"/>
            <a:ext cx="54864" cy="548640"/>
          </a:xfrm>
          <a:prstGeom prst="rect">
            <a:avLst/>
          </a:prstGeom>
          <a:solidFill>
            <a:srgbClr val="EF835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801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83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贝叶优化 (BO) 基本流程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用已知数据训练 GP 代理模型</a:t>
            </a:r>
            <a:endParaRPr lang="en-US" sz="13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通过采集函数（如 EI）确定下一个采样点</a:t>
            </a:r>
            <a:endParaRPr lang="en-US" sz="13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采样并更新模型，循环直至收敛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2801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83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 建模的困难场景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182880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欺骗性函数：局部峰引导 GP 迷失方向</a:t>
            </a:r>
            <a:endParaRPr lang="en-US" sz="13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多峰函数：GP 难以覆盖所有峰值</a:t>
            </a:r>
            <a:endParaRPr lang="en-US" sz="13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梯度悬崖：不连续性破坏 GP 平滑假设</a:t>
            </a:r>
            <a:endParaRPr lang="en-US" sz="1300" dirty="0"/>
          </a:p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高噪声：信哙比低，模型不可靠</a:t>
            </a:r>
            <a:endParaRPr lang="en-US" sz="13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核心问题：如何让 GP 在困难场景下更好地工作？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方法框架：M×N 双层架构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320040"/>
            <a:ext cx="54864" cy="548640"/>
          </a:xfrm>
          <a:prstGeom prst="rect">
            <a:avLst/>
          </a:prstGeom>
          <a:solidFill>
            <a:srgbClr val="EF835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核心思路：在优化前对目标函数做空间变换，让 GP 更容易建模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840480" cy="3017520"/>
          </a:xfrm>
          <a:prstGeom prst="rect">
            <a:avLst/>
          </a:prstGeom>
          <a:solidFill>
            <a:srgbClr val="2B2D42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7373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F83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外层：M 次迭代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搜索最优变换配置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8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输入：变换参数配置</a:t>
            </a:r>
            <a:endParaRPr lang="en-US" sz="1200" dirty="0"/>
          </a:p>
          <a:p>
            <a:pPr marL="0" indent="0">
              <a:lnSpc>
                <a:spcPct val="18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搜索方式：外层 GP + EI 采集函数</a:t>
            </a:r>
            <a:endParaRPr lang="en-US" sz="1200" dirty="0"/>
          </a:p>
          <a:p>
            <a:pPr marL="0" indent="0">
              <a:lnSpc>
                <a:spcPct val="18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输出：内层 BO 的 Gap（与最优值的差距）</a:t>
            </a:r>
            <a:endParaRPr lang="en-US" sz="1200" dirty="0"/>
          </a:p>
          <a:p>
            <a:pPr marL="0" indent="0">
              <a:lnSpc>
                <a:spcPct val="18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结果：Gap 最小的变换配置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EF8354"/>
                </a:solidFill>
              </a:rPr>
              <a:t>▶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846320" y="1645920"/>
            <a:ext cx="384048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0" y="17373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F83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内层：N 次迭代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0" y="2148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在变换后空间执行标准 BO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260604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80000"/>
              </a:lnSpc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对目标值 y 先做变换（Log/标准化）</a:t>
            </a:r>
            <a:endParaRPr lang="en-US" sz="1200" dirty="0"/>
          </a:p>
          <a:p>
            <a:pPr marL="0" indent="0">
              <a:lnSpc>
                <a:spcPct val="180000"/>
              </a:lnSpc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GP 在变换后空间建模更平滑</a:t>
            </a:r>
            <a:endParaRPr lang="en-US" sz="1200" dirty="0"/>
          </a:p>
          <a:p>
            <a:pPr marL="0" indent="0">
              <a:lnSpc>
                <a:spcPct val="180000"/>
              </a:lnSpc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标准 EI 采集函数引导采样</a:t>
            </a:r>
            <a:endParaRPr lang="en-US" sz="1200" dirty="0"/>
          </a:p>
          <a:p>
            <a:pPr marL="0" indent="0">
              <a:lnSpc>
                <a:spcPct val="180000"/>
              </a:lnSpc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最终通过 inverse transform 返回原始空间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变换算子与搜索空间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320040"/>
            <a:ext cx="54864" cy="548640"/>
          </a:xfrm>
          <a:prstGeom prst="rect">
            <a:avLst/>
          </a:prstGeom>
          <a:solidFill>
            <a:srgbClr val="EF835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50292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83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当前变换算子（3 种）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73152" cy="685800"/>
          </a:xfrm>
          <a:prstGeom prst="rect">
            <a:avLst/>
          </a:prstGeom>
          <a:solidFill>
            <a:srgbClr val="EF835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D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IdentityOperator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y' = 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0" y="18745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不做任何变换，作为基线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788920"/>
            <a:ext cx="73152" cy="685800"/>
          </a:xfrm>
          <a:prstGeom prst="rect">
            <a:avLst/>
          </a:prstGeom>
          <a:solidFill>
            <a:srgbClr val="EF8354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788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D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LogWarper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063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y' = sign(y)·log(1+|y|)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27889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压缩大值、放大小值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703320"/>
            <a:ext cx="73152" cy="685800"/>
          </a:xfrm>
          <a:prstGeom prst="rect">
            <a:avLst/>
          </a:prstGeom>
          <a:solidFill>
            <a:srgbClr val="EF8354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703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D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StandardScaler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3977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y' = (y−μ)/σ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37033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标准化到 0 均值 1 方差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60720" y="1188720"/>
            <a:ext cx="2926080" cy="3474720"/>
          </a:xfrm>
          <a:prstGeom prst="rect">
            <a:avLst/>
          </a:prstGeom>
          <a:solidFill>
            <a:srgbClr val="2B2D42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5943600" y="12801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83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外层搜索空间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943600" y="182880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参数空间 [0,1]²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[0,0] → Identity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[1,0] → Log only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[0,1] → Scale only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[1,1] → Log+Scale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当前策略：预填 4 个角点穷举 + GP 引导搜索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基准测试函数（12 个）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320040"/>
            <a:ext cx="54864" cy="548640"/>
          </a:xfrm>
          <a:prstGeom prst="rect">
            <a:avLst/>
          </a:prstGeom>
          <a:solidFill>
            <a:srgbClr val="EF8354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831336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函数名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最大值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特点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deceptive_trap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4.90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欺骗性陷阱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multipeak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5.00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flat_region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3.00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平坦区 + 尖峰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asymmetric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10.00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非对称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noisy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4.00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高噪声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periodic_trap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7.00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周期背景 + 隐藏尖峰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needle_in_haystack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10.00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极窄峰 (σ≈0.01)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cliff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8.00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梯度悬崖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double_well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4.00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双等高对称峰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oscillating_decay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3.50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高斯包络×正弦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step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5.00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阶梯跳变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valley_ridge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6.00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 谷 + 山脊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设计原则：覆盖 GP 建模的各类困难场景，验证变换算子的普适性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实验设计与评估指标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320040"/>
            <a:ext cx="54864" cy="548640"/>
          </a:xfrm>
          <a:prstGeom prst="rect">
            <a:avLst/>
          </a:prstGeom>
          <a:solidFill>
            <a:srgbClr val="EF835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84048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801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83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实验参数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重复次数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0320" y="18745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次（seed 42–46）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3134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外层迭代 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0" y="231343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5（4 角点 + 1 次 GP 搜索）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7523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内层迭代 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0" y="275234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19125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探索参数 xi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319125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6301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 内核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0" y="36301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RBF × ConstantKernel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1188720"/>
            <a:ext cx="384048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0" y="12801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83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评估指标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0" y="182880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Gap = 理论最大值 − 搜索到的最大值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 Gap：标准 BO（无变换）的 Gap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MN-BO Gap：双层方法的 Gap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Gap 缩减差值 = 基线 Gap − MN-BO Gap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Gap 缩减比 = 缩减差值 / 基线 Gap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代码架构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320040"/>
            <a:ext cx="54864" cy="548640"/>
          </a:xfrm>
          <a:prstGeom prst="rect">
            <a:avLst/>
          </a:prstGeom>
          <a:solidFill>
            <a:srgbClr val="EF835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5029200" cy="3657600"/>
          </a:xfrm>
          <a:prstGeom prst="rect">
            <a:avLst/>
          </a:prstGeom>
          <a:solidFill>
            <a:srgbClr val="1E1E1E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234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demo_mn/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6184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main.py          ← 实验入口（外层搜索 + 内层 BO）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00253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bo_transform.py   ← 变换算子定义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38658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benchmark.py      ← 采集函数、日志记录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7706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functions/        ← 12 个基准函数（独立文件）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154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_base.py       ← BenchmarkFunc 抽象基类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5387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__init__.py    ← REGISTRY 注册表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92277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*.py           ← 各函数实现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30682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results/          ← 实验输出（md + 图片）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60720" y="1097280"/>
            <a:ext cx="29260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0" y="1188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83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关键模块职责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43600" y="1737360"/>
            <a:ext cx="2560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main.py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外层 GP 搜索变换 + 内层 BO 循环，结果汇总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bo_transform.py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 / Scale / Identity 算子及 Pipeline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functions/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每个函数独立文件，通过 REGISTRY 注册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benchmark.py</a:t>
            </a:r>
            <a:endParaRPr lang="en-US" sz="1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EI 采集函数、GP 采样、实验日志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当前进展与下一步计划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320040"/>
            <a:ext cx="54864" cy="548640"/>
          </a:xfrm>
          <a:prstGeom prst="rect">
            <a:avLst/>
          </a:prstGeom>
          <a:solidFill>
            <a:srgbClr val="EF835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3840480" cy="50292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已完成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M×N 双层架构实现（外层 GP + 内层 BO）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3 种变换算子（Identity / Log / Scale）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12 个 1D 基准测试函数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基线 BO vs MN-BO 对比实验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5 次重复 + 均值±标准差统计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自动生成实验报告和汇总表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188720"/>
            <a:ext cx="3840480" cy="502920"/>
          </a:xfrm>
          <a:prstGeom prst="rect">
            <a:avLst/>
          </a:prstGeom>
          <a:solidFill>
            <a:srgbClr val="EF8354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1887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U0001F680 下一步计划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87452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变换算子增加连续参数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(压缩强度、幂次等，不再只是开/关)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去掉 round 离散化，让外层真正做连续优化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新增变换算子（Power、Sigmoid 等）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扩展到多维函数 (2D/3D)</a:t>
            </a:r>
            <a:endParaRPr lang="en-US" sz="12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与其他 BO 方法做对比基准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2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F8354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64592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3657600" y="2926080"/>
            <a:ext cx="1828800" cy="0"/>
          </a:xfrm>
          <a:prstGeom prst="line">
            <a:avLst/>
          </a:prstGeom>
          <a:noFill/>
          <a:ln w="25400">
            <a:solidFill>
              <a:srgbClr val="EF83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3200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&amp; A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2016</TotalTime>
  <Words>597</Words>
  <Application>Microsoft Office PowerPoint</Application>
  <PresentationFormat>全屏显示(16:9)</PresentationFormat>
  <Paragraphs>173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Microsoft YaHei</vt:lpstr>
      <vt:lpstr>Arial</vt:lpstr>
      <vt:lpstr>Arial Black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MN-BO: M×N 双层贝叶斯优化</dc:title>
  <dc:subject>PptxGenJS Presentation</dc:subject>
  <dc:creator>LZ</dc:creator>
  <cp:lastModifiedBy>LZ</cp:lastModifiedBy>
  <cp:revision>2</cp:revision>
  <dcterms:created xsi:type="dcterms:W3CDTF">2026-04-21T04:49:38Z</dcterms:created>
  <dcterms:modified xsi:type="dcterms:W3CDTF">2026-04-23T16:05:23Z</dcterms:modified>
</cp:coreProperties>
</file>