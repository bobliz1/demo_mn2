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3336" y="20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8040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2D6A8F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3200400"/>
            <a:ext cx="2286000" cy="2286000"/>
          </a:xfrm>
          <a:prstGeom prst="ellipse">
            <a:avLst/>
          </a:prstGeom>
          <a:solidFill>
            <a:srgbClr val="4ECDC4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M×N 双层贝叶斯优化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MN-BO: Meta-Normalization Bayesian Optimization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组会报告 | 2026-04-22 | 架构版本 v2（连续参数化）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2011680" cy="41148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5C"/>
                </a:solidFill>
              </a:rPr>
              <a:t>v2 连续参数化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1828800" cy="329184"/>
          </a:xfrm>
          <a:prstGeom prst="rect">
            <a:avLst/>
          </a:prstGeom>
          <a:solidFill>
            <a:srgbClr val="2D6A8F">
              <a:alpha val="60000"/>
            </a:srgbClr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6 个变换算子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3840480"/>
            <a:ext cx="1828800" cy="329184"/>
          </a:xfrm>
          <a:prstGeom prst="rect">
            <a:avLst/>
          </a:prstGeom>
          <a:solidFill>
            <a:srgbClr val="2D6A8F">
              <a:alpha val="60000"/>
            </a:srgbClr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12D 连续搜索空间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3840480"/>
            <a:ext cx="1828800" cy="329184"/>
          </a:xfrm>
          <a:prstGeom prst="rect">
            <a:avLst/>
          </a:prstGeom>
          <a:solidFill>
            <a:srgbClr val="2D6A8F">
              <a:alpha val="60000"/>
            </a:srgbClr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Gate 机制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1828800" cy="329184"/>
          </a:xfrm>
          <a:prstGeom prst="rect">
            <a:avLst/>
          </a:prstGeom>
          <a:solidFill>
            <a:srgbClr val="2D6A8F">
              <a:alpha val="60000"/>
            </a:srgbClr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Latin Hypercube 初始化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问题背景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为什么需要目标空间变换？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2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40233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43000"/>
            <a:ext cx="64008" cy="2011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070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GP 建模的困难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6002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目标值分布不均匀：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少数极端值主导协方差估计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采集函数被极端值绑架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预测时在密集区波动过大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欺骗性函数陷阱：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GP 误判全局最优点位置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收敛到局部最优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43000"/>
            <a:ext cx="64008" cy="201168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2070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核心思路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在目标空间引入可学习的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变换算子（Transformation）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将目标值 y 映射为 y'：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压缩极端值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平衡值域分布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  · 让 GP 看到更「好」曲面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291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6A8F"/>
                </a:solidFill>
              </a:rPr>
              <a:t>示例：对数变换   y' = sign(y) · log(1 + α|y|)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611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α 大 → 强压缩 | α→0 → 恒等（无变换）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371600" y="3977640"/>
            <a:ext cx="2194560" cy="868680"/>
          </a:xfrm>
          <a:prstGeom prst="rect">
            <a:avLst/>
          </a:prstGeom>
          <a:solidFill>
            <a:srgbClr val="E8F4FD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371600" y="4005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6A8F"/>
                </a:solidFill>
              </a:rPr>
              <a:t>α=0.1（弱）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371600" y="4297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</a:rPr>
              <a:t>y' = log(1+0.1(弱)y)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931920" y="3977640"/>
            <a:ext cx="2194560" cy="868680"/>
          </a:xfrm>
          <a:prstGeom prst="rect">
            <a:avLst/>
          </a:prstGeom>
          <a:solidFill>
            <a:srgbClr val="E8F4FD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31920" y="4005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6A8F"/>
                </a:solidFill>
              </a:rPr>
              <a:t>α=1.0（经典）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931920" y="4297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</a:rPr>
              <a:t>y' = log(1+1.0(经典)y)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92240" y="3977640"/>
            <a:ext cx="2194560" cy="868680"/>
          </a:xfrm>
          <a:prstGeom prst="rect">
            <a:avLst/>
          </a:prstGeom>
          <a:solidFill>
            <a:srgbClr val="1A3A5C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92240" y="4005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α=10（强）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4297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ECDC4"/>
                </a:solidFill>
              </a:rPr>
              <a:t>y' = log(1+10(强)y)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核心架构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M×N 双层贝叶斯优化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3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137160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DC4"/>
                </a:solidFill>
              </a:rPr>
              <a:t>外层 Meta-Level（M 次）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GP 在 [0,1]¹² 连续空间中搜索最优变换配置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Latin Hypercube 初始化 36 个点 + GP-EI 迭代 20 次 = 56 次外层评估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目标：最小化 Gap（理论最大值 − 找到的最大值）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514600"/>
            <a:ext cx="73152" cy="32004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ECDC4"/>
                </a:solidFill>
              </a:rPr>
              <a:t>▼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37160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803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</a:rPr>
              <a:t>内层 Standard BO（N 次）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输入：x ∈ [0,1]¹（1D 基准函数）→ 原始目标值 y = f(x)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变换：y' = Pipeline(y) → GP + EI 在变换空间搜索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输出：该变换配置下的最优值 y*_trans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1188720" cy="457200"/>
          </a:xfrm>
          <a:prstGeom prst="rect">
            <a:avLst/>
          </a:prstGeom>
          <a:solidFill>
            <a:srgbClr val="2D6A8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43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LogWarper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28800" y="4343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ECDC4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965960" y="4343400"/>
            <a:ext cx="1188720" cy="457200"/>
          </a:xfrm>
          <a:prstGeom prst="rect">
            <a:avLst/>
          </a:prstGeom>
          <a:solidFill>
            <a:srgbClr val="2D6A8F"/>
          </a:solidFill>
          <a:ln/>
        </p:spPr>
      </p:sp>
      <p:sp>
        <p:nvSpPr>
          <p:cNvPr id="20" name="Text 18"/>
          <p:cNvSpPr/>
          <p:nvPr/>
        </p:nvSpPr>
        <p:spPr>
          <a:xfrm>
            <a:off x="1965960" y="4343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StandardScaler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54680" y="4343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ECDC4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91840" y="4343400"/>
            <a:ext cx="1188720" cy="457200"/>
          </a:xfrm>
          <a:prstGeom prst="rect">
            <a:avLst/>
          </a:prstGeom>
          <a:solidFill>
            <a:srgbClr val="2D6A8F"/>
          </a:solidFill>
          <a:ln/>
        </p:spPr>
      </p:sp>
      <p:sp>
        <p:nvSpPr>
          <p:cNvPr id="23" name="Text 21"/>
          <p:cNvSpPr/>
          <p:nvPr/>
        </p:nvSpPr>
        <p:spPr>
          <a:xfrm>
            <a:off x="3291840" y="4343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PowerTransform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0560" y="4343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ECDC4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17720" y="4343400"/>
            <a:ext cx="1188720" cy="457200"/>
          </a:xfrm>
          <a:prstGeom prst="rect">
            <a:avLst/>
          </a:prstGeom>
          <a:solidFill>
            <a:srgbClr val="2D6A8F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4343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SigmoidWarper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06440" y="4343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ECDC4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0" y="4343400"/>
            <a:ext cx="1188720" cy="457200"/>
          </a:xfrm>
          <a:prstGeom prst="rect">
            <a:avLst/>
          </a:prstGeom>
          <a:solidFill>
            <a:srgbClr val="2D6A8F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4343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MinMax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32320" y="4343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ECDC4"/>
                </a:solidFill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269480" y="4343400"/>
            <a:ext cx="1188720" cy="457200"/>
          </a:xfrm>
          <a:prstGeom prst="rect">
            <a:avLst/>
          </a:prstGeom>
          <a:solidFill>
            <a:srgbClr val="2D6A8F"/>
          </a:solidFill>
          <a:ln/>
        </p:spPr>
      </p:sp>
      <p:sp>
        <p:nvSpPr>
          <p:cNvPr id="32" name="Text 30"/>
          <p:cNvSpPr/>
          <p:nvPr/>
        </p:nvSpPr>
        <p:spPr>
          <a:xfrm>
            <a:off x="7269480" y="4343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Rank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" y="48280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</a:rPr>
              <a:t>（gate=0 的算子自动跳过，等价于恒等）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外层搜索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 在 12D 连续空间中的探索过程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4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60120" y="1170432"/>
            <a:ext cx="384048" cy="384048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5C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" y="1645920"/>
            <a:ext cx="1664208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169164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5C"/>
                </a:solidFill>
              </a:rPr>
              <a:t>初始化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3192" y="2029968"/>
            <a:ext cx="1517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Latin Hypercube 采样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36 个点覆盖 12D 空间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84248" y="2057400"/>
            <a:ext cx="91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ECDC4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715768" y="1170432"/>
            <a:ext cx="384048" cy="384048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14" name="Text 12"/>
          <p:cNvSpPr/>
          <p:nvPr/>
        </p:nvSpPr>
        <p:spPr>
          <a:xfrm>
            <a:off x="2715768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5C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075688" y="1645920"/>
            <a:ext cx="1664208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75688" y="169164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5C"/>
                </a:solidFill>
              </a:rPr>
              <a:t>评估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029968"/>
            <a:ext cx="1517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每个点跑内层 BO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获取最优值 y*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739896" y="2057400"/>
            <a:ext cx="91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ECDC4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471416" y="1170432"/>
            <a:ext cx="384048" cy="384048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20" name="Text 18"/>
          <p:cNvSpPr/>
          <p:nvPr/>
        </p:nvSpPr>
        <p:spPr>
          <a:xfrm>
            <a:off x="4471416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5C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831336" y="1645920"/>
            <a:ext cx="1664208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31336" y="169164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5C"/>
                </a:solidFill>
              </a:rPr>
              <a:t>拟合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04488" y="2029968"/>
            <a:ext cx="1517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GP 拟合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p → y* 曲面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95544" y="2057400"/>
            <a:ext cx="91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ECDC4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27064" y="1170432"/>
            <a:ext cx="384048" cy="384048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26" name="Text 24"/>
          <p:cNvSpPr/>
          <p:nvPr/>
        </p:nvSpPr>
        <p:spPr>
          <a:xfrm>
            <a:off x="6227064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5C"/>
                </a:solidFill>
              </a:rPr>
              <a:t>4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586984" y="1645920"/>
            <a:ext cx="1664208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86984" y="169164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5C"/>
                </a:solidFill>
              </a:rPr>
              <a:t>采集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60136" y="2029968"/>
            <a:ext cx="1517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EI 推荐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下一个候选点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251192" y="2057400"/>
            <a:ext cx="91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ECDC4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82712" y="1170432"/>
            <a:ext cx="384048" cy="384048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32" name="Text 30"/>
          <p:cNvSpPr/>
          <p:nvPr/>
        </p:nvSpPr>
        <p:spPr>
          <a:xfrm>
            <a:off x="7982712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5C"/>
                </a:solidFill>
              </a:rPr>
              <a:t>5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342632" y="1645920"/>
            <a:ext cx="1664208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342632" y="169164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5C"/>
                </a:solidFill>
              </a:rPr>
              <a:t>迭代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15784" y="2029968"/>
            <a:ext cx="1517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重复步骤 2-4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共 M=20 次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3063240"/>
            <a:ext cx="8412480" cy="1691640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3127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外层 vs 内层：对偶优化结构</a:t>
            </a:r>
            <a:endParaRPr lang="en-US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8046720" cy="1295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外层 Meta-Level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内层 Standard BO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3A5C"/>
                          </a:solidFill>
                        </a:rPr>
                        <a:t>搜索目标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最优变换配置 p*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给定变换下的 x*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3A5C"/>
                          </a:solidFill>
                        </a:rPr>
                        <a:t>搜索空间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[0,1]¹²（连续）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[0,1]¹（原始函数）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3A5C"/>
                          </a:solidFill>
                        </a:rPr>
                        <a:t>目标函数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黑盒：内层 BO 最优值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f(x) 经过变换后的值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3A5C"/>
                          </a:solidFill>
                        </a:rPr>
                        <a:t>采样策略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GP + EI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GP + EI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个变换算子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每个算子由 gate(强度) + 形态参数共同控制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5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26974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365760" y="1115568"/>
            <a:ext cx="269748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2070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</a:rPr>
              <a:t>LogWarper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499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6A8F"/>
                </a:solidFill>
              </a:rPr>
              <a:t>y' = sign(y)·log(1+α|y|)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773936"/>
            <a:ext cx="251460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g ∈ [0,1]  →  0=恒等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04825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α ∈ [0.1, 10.0]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6A8F"/>
                </a:solidFill>
              </a:rPr>
              <a:t>压缩正值，α 越大压缩越强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0" y="1115568"/>
            <a:ext cx="26974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115568"/>
            <a:ext cx="26974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3291840" y="12070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</a:rPr>
              <a:t>StandardScaler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91840" y="1499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6A8F"/>
                </a:solidFill>
              </a:rPr>
              <a:t>y' = (y-μ-shift·σ)/(σ·s)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1773936"/>
            <a:ext cx="251460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18288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g ∈ [0,1]  →  0=恒等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204825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shift ∈ [-1σ,1σ]  s ∈ [0.2,5.0]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91840" y="22860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6A8F"/>
                </a:solidFill>
              </a:rPr>
              <a:t>均值偏移 + 方差缩放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0" y="1115568"/>
            <a:ext cx="26974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35040" y="1115568"/>
            <a:ext cx="2697480" cy="5486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12070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4899"/>
                </a:solidFill>
              </a:rPr>
              <a:t>PowerTransform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126480" y="1499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6A8F"/>
                </a:solidFill>
              </a:rPr>
              <a:t>y' = sign(y)·|y|^p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26480" y="1773936"/>
            <a:ext cx="251460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0" y="18288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g ∈ [0,1]  →  0=恒等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26480" y="204825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 ∈ [-1, 3]  →  p=1 恒等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26480" y="22860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6A8F"/>
                </a:solidFill>
              </a:rPr>
              <a:t>p&lt;1 压缩大值，p&gt;1 拉伸大值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2990088"/>
            <a:ext cx="26974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5760" y="2990088"/>
            <a:ext cx="26974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30815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SigmoidWarper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" y="33741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6A8F"/>
                </a:solidFill>
              </a:rPr>
              <a:t>y' = 1/(1+exp(-k(y-c)))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648456"/>
            <a:ext cx="251460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033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g ∈ [0,1]  →  0=恒等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92277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k ∈ [0.01, 10]  c ∈ [-5σ, 5σ]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6A8F"/>
                </a:solidFill>
              </a:rPr>
              <a:t>k→0 恒等，k 大趋向阶跃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00400" y="2990088"/>
            <a:ext cx="26974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200400" y="2990088"/>
            <a:ext cx="2697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1" name="Text 39"/>
          <p:cNvSpPr/>
          <p:nvPr/>
        </p:nvSpPr>
        <p:spPr>
          <a:xfrm>
            <a:off x="3291840" y="30815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MinMaxScaler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291840" y="33741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6A8F"/>
                </a:solidFill>
              </a:rPr>
              <a:t>y' = (y-lo)/(hi-lo)·t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91840" y="3648456"/>
            <a:ext cx="251460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7033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g ∈ [0,1]  →  0=恒等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91840" y="392277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目标上界 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29184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6A8F"/>
                </a:solidFill>
              </a:rPr>
              <a:t>线性映射到 [0, t]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35040" y="2990088"/>
            <a:ext cx="26974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035040" y="2990088"/>
            <a:ext cx="269748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9" name="Text 47"/>
          <p:cNvSpPr/>
          <p:nvPr/>
        </p:nvSpPr>
        <p:spPr>
          <a:xfrm>
            <a:off x="6126480" y="30815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</a:rPr>
              <a:t>RankTransform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126480" y="33741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6A8F"/>
                </a:solidFill>
              </a:rPr>
              <a:t>y' = rank(y)/(N-1)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26480" y="3648456"/>
            <a:ext cx="251460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2" name="Text 50"/>
          <p:cNvSpPr/>
          <p:nvPr/>
        </p:nvSpPr>
        <p:spPr>
          <a:xfrm>
            <a:off x="6126480" y="37033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离散 gate  →  g&gt;0.5 启用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126480" y="392277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无形态参数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2648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6A8F"/>
                </a:solidFill>
              </a:rPr>
              <a:t>完全消除异常值，非连续可微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连续参数化详解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12D 搜索空间如何映射到物理算子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6 /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115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12 维空间分配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4023360" cy="329183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算子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参数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范围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p[0]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LogWarper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强度 g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[0,1]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LogWarper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α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[0.1, 10.0]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p[2]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StandardScaler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强度 g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[0,1]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p[3]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StandardScaler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shift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[-1σ, 1σ]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p[4]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StandardScaler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[0.2, 5.0]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p[5]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PowerTransform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强度 g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[0,1]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p[6]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PowerTransform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power p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[-1, 3]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p[7]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SigmoidWarper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强度 g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[0,1]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p[8]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SigmoidWarper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陡度 k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[0.01, 10]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p[9]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SigmoidWarper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中心 c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[-5σ, 5σ]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p[10]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MinMaxScaler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强度 g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[0,1]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2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D6A8F"/>
                          </a:solidFill>
                        </a:rPr>
                        <a:t>p[11]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RankTransform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离散 gate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∈ [0,1]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663440" y="1115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GP 看到的 vs 实际效果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63440" y="146304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800600" y="1536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8F"/>
                </a:solidFill>
              </a:rPr>
              <a:t>以 p = [0.7, 0.5, 0, 0, 1, 0, 1, 0, 0.1, 0, 0, 0] 为例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00600" y="1847088"/>
            <a:ext cx="374904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800600" y="1938528"/>
            <a:ext cx="1188720" cy="38404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14" name="Text 11"/>
          <p:cNvSpPr/>
          <p:nvPr/>
        </p:nvSpPr>
        <p:spPr>
          <a:xfrm>
            <a:off x="4800600" y="19385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6A8F"/>
                </a:solidFill>
              </a:rPr>
              <a:t>p[0]=0.7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080760" y="19385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LogWarper 强度 70%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800600" y="2432304"/>
            <a:ext cx="1188720" cy="38404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323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6A8F"/>
                </a:solidFill>
              </a:rPr>
              <a:t>p[1]=0.5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80760" y="243230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α = 0.1 + 0.5×9.9 = 5.05（强压缩）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800600" y="2926080"/>
            <a:ext cx="1188720" cy="38404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20" name="Text 17"/>
          <p:cNvSpPr/>
          <p:nvPr/>
        </p:nvSpPr>
        <p:spPr>
          <a:xfrm>
            <a:off x="480060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6A8F"/>
                </a:solidFill>
              </a:rPr>
              <a:t>p[4]=1.0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080760" y="2926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StandardScaler scale = 5.0（强方差压缩）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800600" y="3419856"/>
            <a:ext cx="1188720" cy="38404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23" name="Text 20"/>
          <p:cNvSpPr/>
          <p:nvPr/>
        </p:nvSpPr>
        <p:spPr>
          <a:xfrm>
            <a:off x="4800600" y="34198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6A8F"/>
                </a:solidFill>
              </a:rPr>
              <a:t>p[6]=1.0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080760" y="341985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PowerTransform p = 3（拉伸大值）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00600" y="3913632"/>
            <a:ext cx="1188720" cy="38404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26" name="Text 23"/>
          <p:cNvSpPr/>
          <p:nvPr/>
        </p:nvSpPr>
        <p:spPr>
          <a:xfrm>
            <a:off x="4800600" y="39136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6A8F"/>
                </a:solidFill>
              </a:rPr>
              <a:t>p[11]=0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080760" y="391363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RankTransform 未启用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800600" y="44988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ECDC4"/>
                </a:solidFill>
              </a:rPr>
              <a:t>GP 独立探索每个维度，自动发现最优组合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实验配置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/ N 参数设置建议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7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4114800" cy="2377440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43000"/>
            <a:ext cx="4114800" cy="54864"/>
          </a:xfrm>
          <a:prstGeom prst="rect">
            <a:avLst/>
          </a:prstGeom>
          <a:solidFill>
            <a:srgbClr val="2D6A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234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方案 A：均衡型（默认）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外层迭代 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1627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D6A8F"/>
                </a:solidFill>
              </a:rPr>
              <a:t>20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19751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拉丁超方初始点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34640" y="197510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D6A8F"/>
                </a:solidFill>
              </a:rPr>
              <a:t>36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3225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总外层评估数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23225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D6A8F"/>
                </a:solidFill>
              </a:rPr>
              <a:t>56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2670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内层步数 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34640" y="26700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D6A8F"/>
                </a:solidFill>
              </a:rPr>
              <a:t>12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重复次数 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D6A8F"/>
                </a:solidFill>
              </a:rPr>
              <a:t>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1143000"/>
            <a:ext cx="4114800" cy="2377440"/>
          </a:xfrm>
          <a:prstGeom prst="rect">
            <a:avLst/>
          </a:prstGeom>
          <a:solidFill>
            <a:srgbClr val="ECFDF5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1143000"/>
            <a:ext cx="41148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1234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方案 B：外层探索型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3776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外层迭代 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23760" y="1627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ECDC4"/>
                </a:solidFill>
              </a:rPr>
              <a:t>30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19751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拉丁超方初始点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223760" y="197510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ECDC4"/>
                </a:solidFill>
              </a:rPr>
              <a:t>30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23225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总外层评估数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223760" y="23225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ECDC4"/>
                </a:solidFill>
              </a:rPr>
              <a:t>60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2670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内层步数 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223760" y="26700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ECDC4"/>
                </a:solidFill>
              </a:rPr>
              <a:t>10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3776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重复次数 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223760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ECDC4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3703320"/>
            <a:ext cx="8412480" cy="11887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DC4"/>
                </a:solidFill>
              </a:rPr>
              <a:t>命令行使用示例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041648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默认参数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src/main.py --all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自定义 M/N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src/main.py --all -M 30 -N 10 -R 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近期成果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架构升级已完成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8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25272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252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12527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连续参数化 v2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11880" y="1280160"/>
            <a:ext cx="731520" cy="256032"/>
          </a:xfrm>
          <a:prstGeom prst="rect">
            <a:avLst/>
          </a:prstGeom>
          <a:solidFill>
            <a:srgbClr val="10B981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12801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</a:rPr>
              <a:t>已完成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60120" y="161848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6 个算子全部支持连续参数，搜索空间从 4 种组合扩展为 [0,1]¹² 连续空间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14300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25272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252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03520" y="12527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Gate 机制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55280" y="1280160"/>
            <a:ext cx="731520" cy="256032"/>
          </a:xfrm>
          <a:prstGeom prst="rect">
            <a:avLst/>
          </a:prstGeom>
          <a:solidFill>
            <a:srgbClr val="10B981">
              <a:alpha val="8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0" y="12801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</a:rPr>
              <a:t>已完成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03520" y="161848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每个算子独立 gate 参数，GP 自动决定「用多少」和「用什么形态」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42316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253288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2532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Latin Hypercube 初始化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11880" y="2560320"/>
            <a:ext cx="731520" cy="256032"/>
          </a:xfrm>
          <a:prstGeom prst="rect">
            <a:avLst/>
          </a:prstGeom>
          <a:solidFill>
            <a:srgbClr val="10B981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11880" y="25603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</a:rPr>
              <a:t>已完成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0120" y="289864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36 个均匀分布初始点，替代旧版 4 角点，更高效覆盖 12D 空间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42316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253288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03520" y="2532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新增 3 个算子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55280" y="2560320"/>
            <a:ext cx="731520" cy="256032"/>
          </a:xfrm>
          <a:prstGeom prst="rect">
            <a:avLst/>
          </a:prstGeom>
          <a:solidFill>
            <a:srgbClr val="10B981">
              <a:alpha val="8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5603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</a:rPr>
              <a:t>已完成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03520" y="289864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PowerTransform / SigmoidWarper / MinMaxScaler / RankTransform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70332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813048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3813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~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0120" y="3813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全函数批量实验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11880" y="3840480"/>
            <a:ext cx="731520" cy="256032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3611880" y="38404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进行中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60120" y="417880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12 个欺骗性函数有待完整跑通（部分完成）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09160" y="370332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846320" y="3813048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3813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~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303520" y="3813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</a:rPr>
              <a:t>收敛曲线可视化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955280" y="3840480"/>
            <a:ext cx="731520" cy="256032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7955280" y="38404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进行中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03520" y="417880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需要新增「采样次数 vs 最优值」曲线图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下一步计划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四个方向 · 按优先级推进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9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15568"/>
            <a:ext cx="54864" cy="1783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2070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</a:rPr>
              <a:t>⭐⭐⭐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00200" y="12070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</a:rPr>
              <a:t>可视化增强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新增收敛曲线（采样次数 vs 最优值）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19019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多函数对比热力图（Gap 缩减比）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24942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最佳变换配置分布统计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115568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115568"/>
            <a:ext cx="54864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4892040" y="12070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</a:rPr>
              <a:t>⭐⭐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89320" y="12070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</a:rPr>
              <a:t>实验完整性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跑完全部 12 个欺骗性函数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92040" y="19019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按 Gap 缩减比排序，标注「有效/无效」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24942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分析 MN-BO 失败的案例（局限性）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035808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035808"/>
            <a:ext cx="54864" cy="17830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272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4899"/>
                </a:solidFill>
              </a:rPr>
              <a:t>⭐⭐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600200" y="31272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</a:rPr>
              <a:t>算子扩充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3474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探索算子流水线顺序的优化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38221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添加自适应算子选择机制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4169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EI / UCB / PI 采集函数对比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3035808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3035808"/>
            <a:ext cx="54864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31272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⭐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89320" y="31272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</a:rPr>
              <a:t>理论扩展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892040" y="3474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2D / 3D 函数扩展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8221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消融实验（固定算子 vs 自适应）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4169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· GP 在不同目标分布下的建模误差分析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3226D5E-C3C8-711F-BF97-841B364BB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" y="338137"/>
            <a:ext cx="81248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797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2D6A8F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3200400"/>
            <a:ext cx="2286000" cy="2286000"/>
          </a:xfrm>
          <a:prstGeom prst="ellipse">
            <a:avLst/>
          </a:prstGeom>
          <a:solidFill>
            <a:srgbClr val="4ECDC4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欢迎提问与讨论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MN-BO v2 | 2026-04-22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2024</TotalTime>
  <Words>1086</Words>
  <Application>Microsoft Office PowerPoint</Application>
  <PresentationFormat>全屏显示(16:9)</PresentationFormat>
  <Paragraphs>299</Paragraphs>
  <Slides>11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M×N 双层贝叶斯优化 — 组会报告 2026-04-22</dc:title>
  <dc:subject>MN-BO Architecture v2</dc:subject>
  <dc:creator>LZ</dc:creator>
  <cp:lastModifiedBy>LZ</cp:lastModifiedBy>
  <cp:revision>2</cp:revision>
  <dcterms:created xsi:type="dcterms:W3CDTF">2026-04-21T18:55:15Z</dcterms:created>
  <dcterms:modified xsi:type="dcterms:W3CDTF">2026-04-23T16:05:20Z</dcterms:modified>
</cp:coreProperties>
</file>