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D6A8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4ECDC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M×N 双层贝叶斯优化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MN-BO: Meta-Normalization Bayesian Optimization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组会报告 | 2026-04-22 | 架构版本 v2（连续参数化）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011680" cy="4114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v2 连续参数化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828800" cy="329184"/>
          </a:xfrm>
          <a:prstGeom prst="rect">
            <a:avLst/>
          </a:prstGeom>
          <a:solidFill>
            <a:srgbClr val="2D6A8F">
              <a:alpha val="6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 个变换算子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3840480"/>
            <a:ext cx="1828800" cy="329184"/>
          </a:xfrm>
          <a:prstGeom prst="rect">
            <a:avLst/>
          </a:prstGeom>
          <a:solidFill>
            <a:srgbClr val="2D6A8F">
              <a:alpha val="6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8404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12D 连续搜索空间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3840480"/>
            <a:ext cx="1828800" cy="329184"/>
          </a:xfrm>
          <a:prstGeom prst="rect">
            <a:avLst/>
          </a:prstGeom>
          <a:solidFill>
            <a:srgbClr val="2D6A8F">
              <a:alpha val="6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8404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Gate 机制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1828800" cy="329184"/>
          </a:xfrm>
          <a:prstGeom prst="rect">
            <a:avLst/>
          </a:prstGeom>
          <a:solidFill>
            <a:srgbClr val="2D6A8F">
              <a:alpha val="6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8404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Latin Hypercube 初始化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问题背景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为什么需要目标空间变换？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64008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07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GP 建模的困难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目标值分布不均匀：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· 少数极端值主导协方差估计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· 采集函数被极端值绑架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· 预测时在密集区波动过大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欺骗性函数陷阱：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· GP 误判全局最优点位置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· 收敛到局部最优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43000"/>
            <a:ext cx="64008" cy="20116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207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核心思路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16002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在目标空间引入可学习的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变换算子（Transformation）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将目标值 y 映射为 y'：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· 压缩极端值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· 平衡值域分布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· 让 GP 看到更「好」曲面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6A8F"/>
                </a:solidFill>
              </a:rPr>
              <a:t>示例：对数变换   y' = sign(y) · log(1 + α|y|)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611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α 大 → 强压缩 | α→0 → 恒等（无变换）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3977640"/>
            <a:ext cx="2194560" cy="86868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8F"/>
                </a:solidFill>
              </a:rPr>
              <a:t>α=0.1（弱）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4297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5C"/>
                </a:solidFill>
              </a:rPr>
              <a:t>y' = log(1+0.1(弱)y)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3977640"/>
            <a:ext cx="2194560" cy="86868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3192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8F"/>
                </a:solidFill>
              </a:rPr>
              <a:t>α=1.0（经典）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4297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5C"/>
                </a:solidFill>
              </a:rPr>
              <a:t>y' = log(1+1.0(经典)y)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3977640"/>
            <a:ext cx="2194560" cy="8686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α=10（强）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4297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CDC4"/>
                </a:solidFill>
              </a:rPr>
              <a:t>y' = log(1+10(强)y)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核心架构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M×N 双层贝叶斯优化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</a:rPr>
              <a:t>外层 Meta-Level（M 次）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GP 在 [0,1]¹² 连续空间中搜索最优变换配置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Latin Hypercube 初始化 36 个点 + GP-EI 迭代 20 次 = 56 次外层评估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目标：最小化 Gap（理论最大值 − 找到的最大值）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514600"/>
            <a:ext cx="73152" cy="3200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CDC4"/>
                </a:solidFill>
              </a:rPr>
              <a:t>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64008" cy="13716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80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内层 Standard BO（N 次）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输入：x ∈ [0,1]¹（1D 基准函数）→ 原始目标值 y = f(x)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变换：y' = Pipeline(y) → GP + EI 在变换空间搜索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输出：该变换配置下的最优值 y*_trans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188720" cy="457200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3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LogWarper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4343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DC4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965960" y="4343400"/>
            <a:ext cx="1188720" cy="457200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20" name="Text 18"/>
          <p:cNvSpPr/>
          <p:nvPr/>
        </p:nvSpPr>
        <p:spPr>
          <a:xfrm>
            <a:off x="1965960" y="4343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StandardScaler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54680" y="4343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DC4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91840" y="4343400"/>
            <a:ext cx="1188720" cy="457200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4343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PowerTransform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0" y="4343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DC4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17720" y="4343400"/>
            <a:ext cx="1188720" cy="457200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343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SigmoidWarper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4343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DC4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4343400"/>
            <a:ext cx="1188720" cy="457200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4343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MinMax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0" y="4343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DC4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69480" y="4343400"/>
            <a:ext cx="1188720" cy="457200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32" name="Text 30"/>
          <p:cNvSpPr/>
          <p:nvPr/>
        </p:nvSpPr>
        <p:spPr>
          <a:xfrm>
            <a:off x="7269480" y="4343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Rank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（gate=0 的算子自动跳过，等价于恒等）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外层搜索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在 12D 连续空间中的探索过程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" y="1170432"/>
            <a:ext cx="384048" cy="384048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166420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691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初始化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029968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Latin Hypercube 采样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36 个点覆盖 12D 空间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84248" y="205740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CDC4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15768" y="1170432"/>
            <a:ext cx="384048" cy="384048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271576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075688" y="1645920"/>
            <a:ext cx="166420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75688" y="1691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评估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2029968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每个点跑内层 BO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获取最优值 y*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39896" y="205740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CDC4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71416" y="1170432"/>
            <a:ext cx="384048" cy="384048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4471416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831336" y="1645920"/>
            <a:ext cx="166420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31336" y="1691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拟合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04488" y="2029968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GP 拟合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 → y* 曲面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95544" y="205740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CDC4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7064" y="1170432"/>
            <a:ext cx="384048" cy="384048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6227064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586984" y="1645920"/>
            <a:ext cx="166420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86984" y="1691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采集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0136" y="2029968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EI 推荐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下一个候选点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51192" y="205740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CDC4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982712" y="1170432"/>
            <a:ext cx="384048" cy="384048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32" name="Text 30"/>
          <p:cNvSpPr/>
          <p:nvPr/>
        </p:nvSpPr>
        <p:spPr>
          <a:xfrm>
            <a:off x="7982712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5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342632" y="1645920"/>
            <a:ext cx="166420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42632" y="1691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迭代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15784" y="2029968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重复步骤 2-4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共 M=20 次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063240"/>
            <a:ext cx="8412480" cy="169164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外层 vs 内层：对偶优化结构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8046720" cy="1188720"/>
        </p:xfrm>
        <a:graphic>
          <a:graphicData uri="http://schemas.openxmlformats.org/drawingml/2006/table">
            <a:tbl>
              <a:tblPr/>
              <a:tblGrid>
                <a:gridCol w="1371600"/>
                <a:gridCol w="3337560"/>
                <a:gridCol w="333756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外层 Meta-Level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内层 Standard BO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</a:rPr>
                        <a:t>搜索目标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最优变换配置 p*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给定变换下的 x*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</a:rPr>
                        <a:t>搜索空间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[0,1]¹²（连续）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[0,1]¹（原始函数）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</a:rPr>
                        <a:t>目标函数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黑盒：内层 BO 最优值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f(x) 经过变换后的值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</a:rPr>
                        <a:t>采样策略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GP + EI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GP + EI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个变换算子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每个算子由 gate(强度) + 形态参数共同控制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15568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07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LogWarper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4996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8F"/>
                </a:solidFill>
              </a:rPr>
              <a:t>y' = sign(y)·log(1+α|y|)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73936"/>
            <a:ext cx="2514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28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 ∈ [0,1]  →  0=恒等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04825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α ∈ [0.1, 10.0]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8F"/>
                </a:solidFill>
              </a:rPr>
              <a:t>压缩正值，α 越大压缩越强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115568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15568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207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StandardScaler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14996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8F"/>
                </a:solidFill>
              </a:rPr>
              <a:t>y' = (y-μ-shift·σ)/(σ·s)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1773936"/>
            <a:ext cx="2514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828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 ∈ [0,1]  →  0=恒等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04825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shift ∈ [-1σ,1σ]  s ∈ [0.2,5.0]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286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8F"/>
                </a:solidFill>
              </a:rPr>
              <a:t>均值偏移 + 方差缩放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1115568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115568"/>
            <a:ext cx="26974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207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</a:rPr>
              <a:t>PowerTransform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14996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8F"/>
                </a:solidFill>
              </a:rPr>
              <a:t>y' = sign(y)·|y|^p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773936"/>
            <a:ext cx="2514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828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 ∈ [0,1]  →  0=恒等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204825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 ∈ [-1, 3]  →  p=1 恒等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2286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8F"/>
                </a:solidFill>
              </a:rPr>
              <a:t>p&lt;1 压缩大值，p&gt;1 拉伸大值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990088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2990088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081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SigmoidWarper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33741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8F"/>
                </a:solidFill>
              </a:rPr>
              <a:t>y' = 1/(1+exp(-k(y-c)))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648456"/>
            <a:ext cx="2514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7033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 ∈ [0,1]  →  0=恒等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92277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 ∈ [0.01, 10]  c ∈ [-5σ, 5σ]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160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8F"/>
                </a:solidFill>
              </a:rPr>
              <a:t>k→0 恒等，k 大趋向阶跃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0" y="2990088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2990088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3081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MinMaxScaler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291840" y="33741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8F"/>
                </a:solidFill>
              </a:rPr>
              <a:t>y' = (y-lo)/(hi-lo)·t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0" y="3648456"/>
            <a:ext cx="2514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3291840" y="37033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 ∈ [0,1]  →  0=恒等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91840" y="392277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目标上界 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91840" y="4160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8F"/>
                </a:solidFill>
              </a:rPr>
              <a:t>线性映射到 [0, t]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35040" y="2990088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35040" y="2990088"/>
            <a:ext cx="26974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9" name="Text 47"/>
          <p:cNvSpPr/>
          <p:nvPr/>
        </p:nvSpPr>
        <p:spPr>
          <a:xfrm>
            <a:off x="6126480" y="3081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RankTransform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126480" y="33741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8F"/>
                </a:solidFill>
              </a:rPr>
              <a:t>y' = rank(y)/(N-1)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26480" y="3648456"/>
            <a:ext cx="2514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6126480" y="37033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离散 gate  →  g&gt;0.5 启用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26480" y="392277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无形态参数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26480" y="4160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8F"/>
                </a:solidFill>
              </a:rPr>
              <a:t>完全消除异常值，非连续可微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连续参数化详解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12D 搜索空间如何映射到物理算子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12 维空间分配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4023360" cy="3291840"/>
        </p:xfrm>
        <a:graphic>
          <a:graphicData uri="http://schemas.openxmlformats.org/drawingml/2006/table">
            <a:tbl>
              <a:tblPr/>
              <a:tblGrid>
                <a:gridCol w="640080"/>
                <a:gridCol w="1463040"/>
                <a:gridCol w="822960"/>
                <a:gridCol w="1097280"/>
              </a:tblGrid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算子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范围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6A8F"/>
                          </a:solidFill>
                        </a:rPr>
                        <a:t>p[0]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LogWarper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强度 g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∈ [0,1]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6A8F"/>
                          </a:solidFill>
                        </a:rPr>
                        <a:t>p[1]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LogWarper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α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∈ [0.1, 10.0]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6A8F"/>
                          </a:solidFill>
                        </a:rPr>
                        <a:t>p[2]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StandardScaler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强度 g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∈ [0,1]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6A8F"/>
                          </a:solidFill>
                        </a:rPr>
                        <a:t>p[3]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StandardScaler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shift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∈ [-1σ, 1σ]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6A8F"/>
                          </a:solidFill>
                        </a:rPr>
                        <a:t>p[4]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StandardScaler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∈ [0.2, 5.0]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6A8F"/>
                          </a:solidFill>
                        </a:rPr>
                        <a:t>p[5]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PowerTransform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强度 g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∈ [0,1]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6A8F"/>
                          </a:solidFill>
                        </a:rPr>
                        <a:t>p[6]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PowerTransform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power p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∈ [-1, 3]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6A8F"/>
                          </a:solidFill>
                        </a:rPr>
                        <a:t>p[7]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SigmoidWarper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强度 g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∈ [0,1]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6A8F"/>
                          </a:solidFill>
                        </a:rPr>
                        <a:t>p[8]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SigmoidWarper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陡度 k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∈ [0.01, 10]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6A8F"/>
                          </a:solidFill>
                        </a:rPr>
                        <a:t>p[9]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SigmoidWarper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中心 c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∈ [-5σ, 5σ]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6A8F"/>
                          </a:solidFill>
                        </a:rPr>
                        <a:t>p[10]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MinMaxScaler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强度 g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∈ [0,1]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2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6A8F"/>
                          </a:solidFill>
                        </a:rPr>
                        <a:t>p[11]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RankTransform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离散 gate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∈ [0,1]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GP 看到的 vs 实际效果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6304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060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8F"/>
                </a:solidFill>
              </a:rPr>
              <a:t>以 p = [0.7, 0.5, 0, 0, 1, 0, 1, 0, 0.1, 0, 0, 0] 为例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1847088"/>
            <a:ext cx="374904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4800600" y="1938528"/>
            <a:ext cx="1188720" cy="38404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19385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8F"/>
                </a:solidFill>
              </a:rPr>
              <a:t>p[0]=0.7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80760" y="19385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LogWarper 强度 70%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00600" y="2432304"/>
            <a:ext cx="1188720" cy="38404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432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8F"/>
                </a:solidFill>
              </a:rPr>
              <a:t>p[1]=0.5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80760" y="243230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α = 0.1 + 0.5×9.9 = 5.05（强压缩）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00600" y="2926080"/>
            <a:ext cx="1188720" cy="38404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2926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8F"/>
                </a:solidFill>
              </a:rPr>
              <a:t>p[4]=1.0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80760" y="29260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StandardScaler scale = 5.0（强方差压缩）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800600" y="3419856"/>
            <a:ext cx="1188720" cy="38404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3" name="Text 20"/>
          <p:cNvSpPr/>
          <p:nvPr/>
        </p:nvSpPr>
        <p:spPr>
          <a:xfrm>
            <a:off x="4800600" y="34198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8F"/>
                </a:solidFill>
              </a:rPr>
              <a:t>p[6]=1.0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080760" y="34198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PowerTransform p = 3（拉伸大值）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800600" y="3913632"/>
            <a:ext cx="1188720" cy="38404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9136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8F"/>
                </a:solidFill>
              </a:rPr>
              <a:t>p[11]=0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080760" y="39136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RankTransform 未启用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800600" y="4498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CDC4"/>
                </a:solidFill>
              </a:rPr>
              <a:t>GP 独立探索每个维度，自动发现最优组合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实验配置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/ N 参数设置建议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114800" cy="23774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4114800" cy="54864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方案 A：均衡型（默认）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外层迭代 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627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6A8F"/>
                </a:solidFill>
              </a:rPr>
              <a:t>20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975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拉丁超方初始点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19751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6A8F"/>
                </a:solidFill>
              </a:rPr>
              <a:t>36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3225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总外层评估数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322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6A8F"/>
                </a:solidFill>
              </a:rPr>
              <a:t>56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内层步数 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670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6A8F"/>
                </a:solidFill>
              </a:rPr>
              <a:t>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重复次数 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6A8F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4114800" cy="23774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43000"/>
            <a:ext cx="41148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方案 B：外层探索型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外层迭代 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1627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ECDC4"/>
                </a:solidFill>
              </a:rPr>
              <a:t>30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1975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拉丁超方初始点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19751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ECDC4"/>
                </a:solidFill>
              </a:rPr>
              <a:t>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3225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总外层评估数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2322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ECDC4"/>
                </a:solidFill>
              </a:rPr>
              <a:t>60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内层步数 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2670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ECDC4"/>
                </a:solidFill>
              </a:rPr>
              <a:t>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重复次数 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ECDC4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703320"/>
            <a:ext cx="84124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</a:rPr>
              <a:t>命令行使用示例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041648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默认参数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src/main.py --all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自定义 M/N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src/main.py --all -M 30 -N 10 -R 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近期成果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架构升级已完成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25272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252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连续参数化 v2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1280160"/>
            <a:ext cx="731520" cy="25603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280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161848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6 个算子全部支持连续参数，搜索空间从 4 种组合扩展为 [0,1]¹² 连续空间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1430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25272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1252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Gate 机制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1280160"/>
            <a:ext cx="731520" cy="25603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1280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0" y="161848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每个算子独立 gate 参数，GP 自动决定「用多少」和「用什么形态」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4231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253288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2532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Latin Hypercube 初始化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11880" y="2560320"/>
            <a:ext cx="731520" cy="25603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2560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0120" y="28986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36 个均匀分布初始点，替代旧版 4 角点，更高效覆盖 12D 空间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4231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53288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2532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新增 3 个算子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55280" y="2560320"/>
            <a:ext cx="731520" cy="25603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2560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0" y="28986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PowerTransform / SigmoidWarper / MinMaxScaler / RankTransform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7033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3813048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~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0120" y="3813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全函数批量实验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11880" y="3840480"/>
            <a:ext cx="731520" cy="256032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611880" y="3840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进行中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0120" y="417880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12 个欺骗性函数有待完整跑通（部分完成）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37033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3813048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~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03520" y="3813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收敛曲线可视化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955280" y="3840480"/>
            <a:ext cx="731520" cy="256032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955280" y="3840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进行中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03520" y="417880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需要新增「采样次数 vs 最优值」曲线图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四个方向 · 按优先级推进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1783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07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⭐⭐⭐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207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可视化增强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新增收敛曲线（采样次数 vs 最优值）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901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多函数对比热力图（Gap 缩减比）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2494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最佳变换配置分布统计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15568"/>
            <a:ext cx="54864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207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⭐⭐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1207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实验完整性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跑完全部 12 个欺骗性函数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901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按 Gap 缩减比排序，标注「有效/无效」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2494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分析 MN-BO 失败的案例（局限性）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035808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35808"/>
            <a:ext cx="54864" cy="1783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⭐⭐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00200" y="3127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算子扩充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探索算子流水线顺序的优化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添加自适应算子选择机制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1696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EI / UCB / PI 采集函数对比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035808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035808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3127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理论扩展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2D / 3D 函数扩展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消融实验（固定算子 vs 自适应）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41696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GP 在不同目标分布下的建模误差分析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D6A8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4ECDC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欢迎提问与讨论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MN-BO v2 | 2026-04-22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M×N 双层贝叶斯优化 — 组会报告 2026-04-22</dc:title>
  <dc:subject>MN-BO Architecture v2</dc:subject>
  <dc:creator>LZ</dc:creator>
  <cp:lastModifiedBy>LZ</cp:lastModifiedBy>
  <cp:revision>1</cp:revision>
  <dcterms:created xsi:type="dcterms:W3CDTF">2026-04-21T18:55:15Z</dcterms:created>
  <dcterms:modified xsi:type="dcterms:W3CDTF">2026-04-21T18:55:15Z</dcterms:modified>
</cp:coreProperties>
</file>